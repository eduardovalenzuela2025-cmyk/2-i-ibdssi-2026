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900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90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s-MX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550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329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019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159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21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5979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750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138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D4FDEE1-9659-4FAD-BB6F-681DF0186E3B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EFC67FB-5193-4E0B-9667-C63A322912A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060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50319-5544-4F05-A4E6-A97EDB594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6600" dirty="0"/>
              <a:t>Temas de vital importancia en ciberseguridad en Python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A6E288-4296-46FA-99E0-391233FDE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Eduardo Tadeo Valenzuela Villa { 2-I }</a:t>
            </a:r>
          </a:p>
        </p:txBody>
      </p:sp>
    </p:spTree>
    <p:extLst>
      <p:ext uri="{BB962C8B-B14F-4D97-AF65-F5344CB8AC3E}">
        <p14:creationId xmlns:p14="http://schemas.microsoft.com/office/powerpoint/2010/main" val="403620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1B706-258F-46DA-9415-E6361D23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44" y="-37018"/>
            <a:ext cx="10058400" cy="1609344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OBJETIVOS DE LOS PILARES DE DESARROLLO SEGURO: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539B00-182C-4242-8FB1-18F31C4BE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66" y="1465800"/>
            <a:ext cx="10058400" cy="5392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       </a:t>
            </a:r>
            <a:r>
              <a:rPr lang="es-MX" dirty="0">
                <a:solidFill>
                  <a:srgbClr val="C00000"/>
                </a:solidFill>
              </a:rPr>
              <a:t>Gestión de dependencias:</a:t>
            </a:r>
          </a:p>
          <a:p>
            <a:pPr marL="0" indent="0">
              <a:buNone/>
            </a:pPr>
            <a:endParaRPr lang="es-MX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>
                <a:solidFill>
                  <a:srgbClr val="C00000"/>
                </a:solidFill>
              </a:rPr>
              <a:t>   Manejo de secretos:</a:t>
            </a:r>
          </a:p>
          <a:p>
            <a:pPr marL="0" indent="0">
              <a:buNone/>
            </a:pPr>
            <a:r>
              <a:rPr lang="es-MX" dirty="0"/>
              <a:t>         </a:t>
            </a:r>
          </a:p>
          <a:p>
            <a:pPr marL="0" indent="0">
              <a:buNone/>
            </a:pPr>
            <a:r>
              <a:rPr lang="es-MX" dirty="0"/>
              <a:t>       </a:t>
            </a:r>
            <a:r>
              <a:rPr lang="es-MX" dirty="0">
                <a:solidFill>
                  <a:srgbClr val="C00000"/>
                </a:solidFill>
              </a:rPr>
              <a:t>Validación de entradas:</a:t>
            </a:r>
          </a:p>
          <a:p>
            <a:pPr marL="0" indent="0">
              <a:buNone/>
            </a:pPr>
            <a:r>
              <a:rPr lang="es-MX" dirty="0"/>
              <a:t>         </a:t>
            </a:r>
          </a:p>
          <a:p>
            <a:pPr marL="0" indent="0">
              <a:buNone/>
            </a:pPr>
            <a:r>
              <a:rPr lang="es-MX" dirty="0"/>
              <a:t>       </a:t>
            </a:r>
            <a:r>
              <a:rPr lang="es-MX" dirty="0">
                <a:solidFill>
                  <a:srgbClr val="C00000"/>
                </a:solidFill>
              </a:rPr>
              <a:t>Saneamiento de datos:</a:t>
            </a:r>
          </a:p>
          <a:p>
            <a:pPr marL="0" indent="0">
              <a:buNone/>
            </a:pPr>
            <a:r>
              <a:rPr lang="es-MX" dirty="0"/>
              <a:t>       </a:t>
            </a:r>
          </a:p>
          <a:p>
            <a:pPr marL="0" indent="0">
              <a:buNone/>
            </a:pPr>
            <a:r>
              <a:rPr lang="es-MX" dirty="0"/>
              <a:t>       </a:t>
            </a:r>
            <a:r>
              <a:rPr lang="es-MX" dirty="0">
                <a:solidFill>
                  <a:srgbClr val="C00000"/>
                </a:solidFill>
              </a:rPr>
              <a:t>Principio de menor privilegio: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        </a:t>
            </a:r>
          </a:p>
          <a:p>
            <a:pPr marL="0" indent="0">
              <a:buNone/>
            </a:pPr>
            <a:r>
              <a:rPr lang="es-MX" dirty="0"/>
              <a:t>       </a:t>
            </a:r>
            <a:r>
              <a:rPr lang="es-MX" dirty="0">
                <a:solidFill>
                  <a:srgbClr val="C00000"/>
                </a:solidFill>
              </a:rPr>
              <a:t>Actualización del entorno: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     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4392DC-E77E-41DA-9E72-4B3F59FE2F3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22389" y="1829925"/>
            <a:ext cx="1206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Objetivo: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Prevenir el uso de librerías de terceros desactualizadas con vulnerabilidades conocidas (A06:2021).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Acción: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Escanea y actualiza tus librerías usando herramientas como </a:t>
            </a: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npm audit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pip-audit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 </a:t>
            </a:r>
            <a:r>
              <a:rPr kumimoji="0" lang="es-MX" altLang="es-MX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software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 composición (SCA).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B3FBB14-387F-4897-9C71-22FB33D93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89" y="28812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Objetivo: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Evitar la filtración de credenciales, tokens y claves API en repositorios de código.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Acción: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Almacena variables de entorno en gestores centralizados (ej. AWS Secrets Manager, HashiCorp Vault) y nunca los subas al control de versiones.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FCB7005-C268-44B4-9BA6-80CA2C359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89" y="37352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Objetivo: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Bloquear datos maliciosos que intentan manipular tu lógica o inyectar código (A03:2021).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Acción: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Verifica siempre en el servidor que los datos coincidan con el tipo, longitud y formato esperados utilizando listas blancas.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3F6BC1F-776D-45F8-A077-CC2E04A2B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89" y="4384041"/>
            <a:ext cx="71818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Objetivo: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Neutralizar caracteres peligrosos antes de procesar o mostrar entradas de usuario (previene XSS y SQLi).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Acción: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Escapa las salidas HTML y usa consultas parametrizadas (</a:t>
            </a:r>
            <a:r>
              <a:rPr kumimoji="0" lang="es-MX" altLang="es-MX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prepared statements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 en la base de datos.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EF23E0A-3E42-4492-8DDC-74428D0A2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89" y="54440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Objetivo: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Limitar el impacto si una aplicación o cuenta es vulnerada (A01:2021).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Acción: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Otorga solo los permisos mínimos necesarios (ej. lectura/escritura) y aísla procesos en contenedores o roles IAM específicos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3AB4E315-0A9F-453D-988E-A988BF1AC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89" y="6324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Objetivo: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Mantener el </a:t>
            </a:r>
            <a:r>
              <a:rPr kumimoji="0" lang="es-MX" altLang="es-MX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software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base protegido frente a ataques conocidos.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Acción: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Aplica parches de seguridad al sistema operativo, contenedores y entornos de ejecución (</a:t>
            </a:r>
            <a:r>
              <a:rPr kumimoji="0" lang="es-MX" altLang="es-MX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runtime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 de forma periódica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68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BE7FB-8AA8-4B2B-A94F-ECAEE378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0200"/>
            <a:ext cx="10058400" cy="1609344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Tipos de ataques comunes en Python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CB77EE-79AE-47AD-8495-74B96FF0F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49" y="739308"/>
            <a:ext cx="10058400" cy="61186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Inyección de código (eval() / exec())</a:t>
            </a:r>
          </a:p>
          <a:p>
            <a:pPr marL="0" indent="0">
              <a:buNone/>
            </a:pPr>
            <a:r>
              <a:rPr lang="es-MX" b="1" u="none" strike="noStrike" dirty="0">
                <a:effectLst/>
                <a:latin typeface="Google Sans"/>
              </a:rPr>
              <a:t>Riesgo:</a:t>
            </a:r>
            <a:r>
              <a:rPr lang="es-MX" dirty="0"/>
              <a:t> Permite a un atacante ejecutar código arbitrario si la entrada no se desinfecta.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Inyección SQL</a:t>
            </a:r>
          </a:p>
          <a:p>
            <a:pPr marL="0" indent="0">
              <a:buNone/>
            </a:pPr>
            <a:r>
              <a:rPr lang="es-MX" b="1" u="none" strike="noStrike" dirty="0">
                <a:effectLst/>
                <a:latin typeface="Google Sans"/>
              </a:rPr>
              <a:t>Riesgo:</a:t>
            </a:r>
            <a:r>
              <a:rPr lang="es-MX" dirty="0"/>
              <a:t> Manipulación de bases de datos para extraer o destruir información sensible.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Deserialización insegura (pickle)</a:t>
            </a:r>
          </a:p>
          <a:p>
            <a:pPr marL="0" indent="0">
              <a:buNone/>
            </a:pPr>
            <a:r>
              <a:rPr lang="es-MX" dirty="0"/>
              <a:t>Riesgo: La ejecución de datos serializados usando pickle puede ejecutar comandos del sistema (RCE).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Ataques de día cero en librerías</a:t>
            </a:r>
          </a:p>
          <a:p>
            <a:pPr marL="0" indent="0">
              <a:buNone/>
            </a:pPr>
            <a:r>
              <a:rPr lang="es-MX" dirty="0"/>
              <a:t>Riesgo: Explotación de vulnerabilidades desconocidas o sin parches en dependencias de terceros.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Secuestro de tipografía (Typosquatting)</a:t>
            </a:r>
          </a:p>
          <a:p>
            <a:pPr marL="0" indent="0">
              <a:buNone/>
            </a:pPr>
            <a:r>
              <a:rPr lang="es-MX" dirty="0"/>
              <a:t>Riesgo: Instalación de paquetes maliciosos que tienen nombres similares a las librerías oficiales (ej. errores de tipeo al usar pip o npm).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Inyección de comandos (Command Injection)</a:t>
            </a:r>
          </a:p>
          <a:p>
            <a:pPr marL="0" indent="0">
              <a:buNone/>
            </a:pPr>
            <a:r>
              <a:rPr lang="es-MX" dirty="0"/>
              <a:t>Riesgo: Permite la ejecución de comandos del sistema operativo desde el código de la aplicación.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F37F93-581B-4AFB-BE4B-15CD4EB1A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356" y="2889116"/>
            <a:ext cx="1749552" cy="12174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03934A-013E-4F9E-9D39-B46FB9DC0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356" y="1279144"/>
            <a:ext cx="1749552" cy="131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9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E3D8A-7A79-4901-A8A5-E984E78C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96" y="0"/>
            <a:ext cx="10058400" cy="1609344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QUE ES LA INGENIERIA SOCIAL?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20B050-D15A-4C92-9D1E-5885CC137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96" y="1403604"/>
            <a:ext cx="10058400" cy="40507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/>
              <a:t>La ingeniería social es una técnica de manipulación psicológica que utilizan los ciberdelincuentes para engañar a las personas y lograr que revelen información confidencial, descarguen archivos maliciosos o realicen transferencias económicas. En lugar de hackear sistemas informáticos, explotan el error humano, la confianza y emociones como el miedo o la urgencia.</a:t>
            </a:r>
          </a:p>
          <a:p>
            <a:pPr marL="0" indent="0">
              <a:buNone/>
            </a:pPr>
            <a:r>
              <a:rPr lang="es-MX" dirty="0"/>
              <a:t>Los métodos más comunes incluyen: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Phishing:</a:t>
            </a:r>
            <a:r>
              <a:rPr lang="es-MX" dirty="0"/>
              <a:t> Correos electrónicos o mensajes fraudulentos que se hacen pasar por empresas legítimas (como tu banco) para robar contraseñas o datos bancarios.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Smishing / Vishing: </a:t>
            </a:r>
            <a:r>
              <a:rPr lang="es-MX" dirty="0"/>
              <a:t>Estafas similares al phishing pero realizadas a través de mensajes de texto (SMS) o llamadas telefónicas.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Pretexting (Pretextos): </a:t>
            </a:r>
            <a:r>
              <a:rPr lang="es-MX" dirty="0"/>
              <a:t>El atacante crea una historia elaborada o se hace pasar por una figura de autoridad (soporte técnico, directivo) para ganarse la confianza de la víctima.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Baiting (Cebo):</a:t>
            </a:r>
            <a:r>
              <a:rPr lang="es-MX" dirty="0"/>
              <a:t> Uso de falsas promesas (como descargas gratuitas de películas o un dispositivo USB infectado) para despertar la curiosidad del usuario.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C2C4F6-C0AF-4C1F-9879-42497106F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096" y="1644462"/>
            <a:ext cx="1786243" cy="116757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462C147-BE6B-4894-9210-4AC405F62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6096" y="3052895"/>
            <a:ext cx="1786243" cy="102477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F0632BE-B2E9-487A-9578-929E8D52F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096" y="4349455"/>
            <a:ext cx="1799205" cy="116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8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58C29-FCFB-4615-B3D7-7F0BA7297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82" y="323766"/>
            <a:ext cx="10058400" cy="1609344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accent1"/>
                </a:solidFill>
              </a:rPr>
              <a:t>Variantes de Phishing (Suplantación de identidad)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1C1A62-8F50-429A-8102-E63AB38FB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73" y="1457837"/>
            <a:ext cx="10058400" cy="52754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• Phishing tradicional</a:t>
            </a:r>
          </a:p>
          <a:p>
            <a:pPr marL="0" indent="0">
              <a:buNone/>
            </a:pPr>
            <a:r>
              <a:rPr lang="en-US" dirty="0"/>
              <a:t>Ataque masivo por correo electrónico. Utiliza enlaces o archivos adjuntos para suplantar a entidades de confianza de forma genérica.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•  Spear Phishing</a:t>
            </a:r>
          </a:p>
          <a:p>
            <a:pPr marL="0" indent="0">
              <a:buNone/>
            </a:pPr>
            <a:r>
              <a:rPr lang="es-MX" dirty="0"/>
              <a:t>Ataque dirigido y altamente personalizado. Utiliza información específica de la víctima obtenida en redes sociales para aumentar la tasa de éxito.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•  Whaling (Pesca de ballenas)</a:t>
            </a:r>
          </a:p>
          <a:p>
            <a:pPr marL="0" indent="0">
              <a:buNone/>
            </a:pPr>
            <a:r>
              <a:rPr lang="en-US" dirty="0"/>
              <a:t>Subtipo de spear phishing dirigido exclusivamente a altos ejecutivos (directores, CEO, CFO). Busca accesos de alto nivel o transferencias financieras masivas.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•  Smishing</a:t>
            </a:r>
          </a:p>
          <a:p>
            <a:pPr marL="0" indent="0">
              <a:buNone/>
            </a:pPr>
            <a:r>
              <a:rPr lang="es-MX" dirty="0"/>
              <a:t>Variante que sustituye el correo por mensajes de texto (SMS) o aplicaciones de mensajería para engañar al usuario.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•  Vishing</a:t>
            </a:r>
          </a:p>
          <a:p>
            <a:pPr marL="0" indent="0">
              <a:buNone/>
            </a:pPr>
            <a:r>
              <a:rPr lang="es-MX" dirty="0"/>
              <a:t> Ataque que utiliza llamadas telefónicas o mensajes de voz en lugar de medios escritos.</a:t>
            </a:r>
            <a:endParaRPr lang="en-US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C1DED9-208D-4F62-B889-669ACEE2B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964" y="1164026"/>
            <a:ext cx="2125163" cy="11900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F01A80F-19B2-46BE-985E-6C2D0DF9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5964" y="2633663"/>
            <a:ext cx="2125163" cy="131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21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50AF1-DC78-45B6-A7C0-D7151072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30" y="401504"/>
            <a:ext cx="10058400" cy="1609344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Engaños y Manipulación Directa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07E590-1596-4F30-833B-C0EAF65D8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21" y="1687299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Business Email Compromise (BEC)</a:t>
            </a:r>
          </a:p>
          <a:p>
            <a:pPr marL="0" indent="0">
              <a:buNone/>
            </a:pPr>
            <a:r>
              <a:rPr lang="es-MX" dirty="0"/>
              <a:t>Es una estafa de ingeniería social donde los atacantes se hacen pasar por ejecutivos, proveedores o empleados para realizar transferencias no autorizadas.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Catfishing / Romances falsos</a:t>
            </a:r>
          </a:p>
          <a:p>
            <a:pPr marL="0" indent="0">
              <a:buNone/>
            </a:pPr>
            <a:r>
              <a:rPr lang="es-MX" dirty="0"/>
              <a:t>Técnica donde los ciberdelincuentes crean identidades digitales o perfiles falsos para engañar a la víctima y establecer un vínculo emocional.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Scareware</a:t>
            </a:r>
          </a:p>
          <a:p>
            <a:pPr marL="0" indent="0">
              <a:buNone/>
            </a:pPr>
            <a:r>
              <a:rPr lang="es-MX" dirty="0"/>
              <a:t>Tipo de software malicioso o estafa que emplea el miedo para presionar al usuario a que realice una acción perjudicial.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D82B5E-7BB2-46B9-B70A-7B76048E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630" y="5086351"/>
            <a:ext cx="2116998" cy="14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66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5EC2B-C0FB-4E29-B32B-9A946D8C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3" y="0"/>
            <a:ext cx="10058400" cy="1609344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Estafas de Identidad y Redes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61CD57-8AA5-4C74-A8FC-43CC03ED4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393" y="1410208"/>
            <a:ext cx="10058400" cy="48797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• Baiting (Señuelo)</a:t>
            </a:r>
          </a:p>
          <a:p>
            <a:pPr marL="0" indent="0">
              <a:buNone/>
            </a:pPr>
            <a:r>
              <a:rPr lang="es-MX" dirty="0"/>
              <a:t> Se puede dejar un dispositivo de almacenamiento infectado (como una memoria USB o un disco duro) en lugares accesibles, o bien ofrecer descargas gratuitas en internet. Cuando la curiosidad o la avaricia de la víctima le lleva a conectar o descargar el archivo, el malware se instala en el sistema.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• Pretexting</a:t>
            </a:r>
          </a:p>
          <a:p>
            <a:pPr marL="0" indent="0">
              <a:buNone/>
            </a:pPr>
            <a:r>
              <a:rPr lang="es-MX" dirty="0"/>
              <a:t>El atacante asume una identidad de autoridad o de confianza (como un empleado de soporte técnico, recursos humanos o un proveedor) y utiliza un pretexto planificado de antemano para solicitar datos que, de otra forma, la víctima no revelaría.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• Quid Pro Quo</a:t>
            </a:r>
          </a:p>
          <a:p>
            <a:pPr marL="0" indent="0">
              <a:buNone/>
            </a:pPr>
            <a:r>
              <a:rPr lang="es-MX" dirty="0"/>
              <a:t>El atacante finge ofrecer una solución a un problema inexistente, como asistencia informática, y solicita las credenciales de acceso para poder solucionar la incidencia.</a:t>
            </a:r>
          </a:p>
          <a:p>
            <a:pPr marL="0" indent="0">
              <a:buNone/>
            </a:pPr>
            <a:r>
              <a:rPr lang="es-MX" dirty="0">
                <a:solidFill>
                  <a:srgbClr val="C00000"/>
                </a:solidFill>
              </a:rPr>
              <a:t>• Tailgating (Colarse)</a:t>
            </a:r>
          </a:p>
          <a:p>
            <a:pPr marL="0" indent="0">
              <a:buNone/>
            </a:pPr>
            <a:r>
              <a:rPr lang="es-MX" dirty="0"/>
              <a:t> El atacante aprovecha la amabilidad o el descuido de un empleado para pasar por una puerta de seguridad sin mostrar sus credenciales, a menudo pidiendo ayuda para cargar objetos o aprovechando el momento en que se abre la puerta.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13BC8A-3F26-43DA-9904-EEB95A728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988" y="130292"/>
            <a:ext cx="2222619" cy="147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84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Letras en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TM03090434[[fn=Letras en madera]]</Template>
  <TotalTime>72</TotalTime>
  <Words>1020</Words>
  <Application>Microsoft Office PowerPoint</Application>
  <PresentationFormat>Panorámica</PresentationFormat>
  <Paragraphs>77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Courier New</vt:lpstr>
      <vt:lpstr>Google Sans</vt:lpstr>
      <vt:lpstr>Rockwell</vt:lpstr>
      <vt:lpstr>Rockwell Condensed</vt:lpstr>
      <vt:lpstr>Wingdings</vt:lpstr>
      <vt:lpstr>Letras en madera</vt:lpstr>
      <vt:lpstr>Temas de vital importancia en ciberseguridad en Python </vt:lpstr>
      <vt:lpstr>OBJETIVOS DE LOS PILARES DE DESARROLLO SEGURO:</vt:lpstr>
      <vt:lpstr>Tipos de ataques comunes en Python </vt:lpstr>
      <vt:lpstr>QUE ES LA INGENIERIA SOCIAL?</vt:lpstr>
      <vt:lpstr>Variantes de Phishing (Suplantación de identidad) </vt:lpstr>
      <vt:lpstr>Engaños y Manipulación Directa </vt:lpstr>
      <vt:lpstr>Estafas de Identidad y Redes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Temas de vital importancia en ciberseguridad en Python</dc:title>
  <dc:creator>Yael Gonzalez</dc:creator>
  <cp:lastModifiedBy>Yael Gonzalez</cp:lastModifiedBy>
  <cp:revision>8</cp:revision>
  <dcterms:created xsi:type="dcterms:W3CDTF">2026-05-21T20:40:28Z</dcterms:created>
  <dcterms:modified xsi:type="dcterms:W3CDTF">2026-05-21T21:52:51Z</dcterms:modified>
</cp:coreProperties>
</file>